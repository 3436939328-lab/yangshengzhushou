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351" userDrawn="true">
          <p15:clr>
            <a:srgbClr val="A4A3A4"/>
          </p15:clr>
        </p15:guide>
        <p15:guide id="2" pos="3840" userDrawn="true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6491" autoAdjust="false"/>
    <p:restoredTop sz="94607" autoAdjust="false"/>
  </p:normalViewPr>
  <p:slideViewPr>
    <p:cSldViewPr snapToGrid="false" showGuides="true">
      <p:cViewPr varScale="true">
        <p:scale>
          <a:sx n="62" d="100"/>
          <a:sy n="62" d="100"/>
        </p:scale>
        <p:origin x="431" y="2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tableStyles" Target="tableStyles.xml"/><Relationship Id="rId1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9CE6E62-0A4A-440F-A3A0-1904151E0F67}" type="datetimeFigureOut">
              <a:rPr lang="zh-CN" altLang="en-US" smtClean="false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F45C4DF4-6413-405D-8311-20A510DC5EFC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F45C4DF4-6413-405D-8311-20A510DC5EFC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1.png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2.png"/><Relationship Id="rId2" Type="http://schemas.openxmlformats.org/officeDocument/2006/relationships/image" Target="media/image3.png"/><Relationship Id="rId3" Type="http://schemas.openxmlformats.org/officeDocument/2006/relationships/image" Target="media/image4.png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5.png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6.png"/><Relationship Id="rId2" Type="http://schemas.openxmlformats.org/officeDocument/2006/relationships/image" Target="media/image5.png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true"/>
          </p:cNvPicPr>
          <p:nvPr userDrawn="true"/>
        </p:nvPicPr>
        <p:blipFill>
          <a:blip r:embed="rId1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true"/>
          </p:cNvPicPr>
          <p:nvPr userDrawn="true"/>
        </p:nvPicPr>
        <p:blipFill rotWithShape="true">
          <a:blip r:embed="rId1" cstate="print">
            <a:alphaModFix amt="20000"/>
            <a:extLst>
              <a:ext uri="{28A0092B-C50C-407E-A947-70E740481C1C}"/>
            </a:extLst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true"/>
          </p:cNvPicPr>
          <p:nvPr userDrawn="true"/>
        </p:nvPicPr>
        <p:blipFill>
          <a:blip r:embed="rId2" cstate="print">
            <a:alphaModFix amt="21000"/>
            <a:extLst>
              <a:ext uri="{28A0092B-C50C-407E-A947-70E740481C1C}"/>
            </a:extLst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true"/>
          </p:cNvPicPr>
          <p:nvPr userDrawn="true"/>
        </p:nvPicPr>
        <p:blipFill>
          <a:blip r:embed="rId3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showMasterSp="false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true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true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true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true"/>
          </p:cNvPicPr>
          <p:nvPr userDrawn="true"/>
        </p:nvPicPr>
        <p:blipFill>
          <a:blip r:embed="rId1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true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kumimoji="true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true"/>
          </p:cNvPicPr>
          <p:nvPr userDrawn="true"/>
        </p:nvPicPr>
        <p:blipFill rotWithShape="true">
          <a:blip r:embed="rId1" cstate="print">
            <a:alphaModFix amt="35000"/>
            <a:biLevel thresh="25000"/>
            <a:extLst>
              <a:ext uri="{28A0092B-C50C-407E-A947-70E740481C1C}"/>
            </a:extLst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true"/>
          </p:cNvPicPr>
          <p:nvPr userDrawn="true"/>
        </p:nvPicPr>
        <p:blipFill>
          <a:blip r:embed="rId2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true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false">
            <a:spAutoFit/>
          </a:bodyPr>
          <a:lstStyle/>
          <a:p>
            <a:pPr marL="0" marR="0" lvl="0" indent="0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false" lang="zh-CN" altLang="en-US" sz="40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true"/>
          <p:nvPr userDrawn="true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FABC47A4-756D-490B-A52F-7D9E2C9FC05F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fals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false" ftr="false" dt="false"/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4.xml"/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true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茹安阁团队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/>
            <a:r>
              <a:rPr sz="1600">
                <a:latin typeface="微软雅黑"/>
              </a:rPr>
              <a:t>2026年10月</a:t>
            </a:r>
          </a:p>
        </p:txBody>
      </p:sp>
      <p:sp>
        <p:nvSpPr>
          <p:cNvPr id="3" name="文本框 6"/>
          <p:cNvSpPr txBox="true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OH</a:t>
            </a:r>
            <a:r>
              <a:rPr lang="zh-CN" altLang="en-US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创新大赛赛道三作品提交</a:t>
            </a:r>
            <a:endParaRPr lang="en-US" altLang="zh-CN" sz="4800" b="true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true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sz="2800">
                <a:solidFill>
                  <a:srgbClr val="08A8F6"/>
                </a:solidFill>
                <a:latin typeface="微软雅黑"/>
              </a:rPr>
              <a:t>茹安阁</a:t>
            </a:r>
            <a:endParaRPr lang="en-US" altLang="zh-CN" sz="2800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true" dirty="fals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noProof="false" dirty="fals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dirty="false"/>
              <a:t>创作简介</a:t>
            </a:r>
            <a:endParaRPr kumimoji="true" lang="zh-CN" altLang="en-US" sz="2800" dirty="fals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true"/>
          <p:nvPr/>
        </p:nvSpPr>
        <p:spPr>
          <a:xfrm>
            <a:off x="681316" y="2986110"/>
            <a:ext cx="3012141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 b="1">
                <a:latin typeface="微软雅黑"/>
              </a:rPr>
              <a:t>随着慢性病患者超3亿、人口老龄化加速，健康管理需求日益增长。传统养生知识难辨真伪，家人健康难以远程关注。我们希望借助鸿蒙生态与AI技术，让中医养生智慧走进千家万户。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true"/>
          <p:nvPr/>
        </p:nvSpPr>
        <p:spPr>
          <a:xfrm>
            <a:off x="681316" y="4569388"/>
            <a:ext cx="3012141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 b="1">
                <a:latin typeface="微软雅黑"/>
              </a:rPr>
              <a:t>AI舌象分析 + 亲人健康守护，你的随身中医养生顾问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true"/>
          <p:nvPr/>
        </p:nvSpPr>
        <p:spPr>
          <a:xfrm>
            <a:off x="681316" y="950500"/>
            <a:ext cx="8516472" cy="19816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 b="1">
                <a:latin typeface="微软雅黑"/>
              </a:rPr>
              <a:t>团队简介：茹安阁团队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r>
              <a:rPr sz="1600" b="1">
                <a:latin typeface="微软雅黑"/>
              </a:rPr>
              <a:t>队  长：XXX</a:t>
            </a:r>
          </a:p>
          <a:p>
            <a:r>
              <a:rPr sz="1600" b="1">
                <a:latin typeface="微软雅黑"/>
              </a:rPr>
              <a:t>团队成员：XXX / XXX / XXX / XXX</a:t>
            </a:r>
          </a:p>
          <a:p>
            <a:r>
              <a:rPr sz="1600" b="1">
                <a:latin typeface="微软雅黑"/>
              </a:rPr>
              <a:t>学校&amp;专业：XXX大学 - 计算机科学与技术</a:t>
            </a:r>
          </a:p>
          <a:p>
            <a:r>
              <a:rPr sz="1600" b="1">
                <a:latin typeface="微软雅黑"/>
              </a:rPr>
              <a:t>指导老师：XXX</a:t>
            </a:r>
          </a:p>
          <a:p>
            <a:r>
              <a:rPr sz="1600" b="1">
                <a:latin typeface="微软雅黑"/>
              </a:rPr>
              <a:t>联络方式：138-XXXX-XXXX  /  微信号：XXXXXX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sz="2800" dirty="fals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sp>
        <p:nvSpPr>
          <p:cNvPr id="24" name="文本框 3"/>
          <p:cNvSpPr txBox="true"/>
          <p:nvPr/>
        </p:nvSpPr>
        <p:spPr>
          <a:xfrm>
            <a:off x="600634" y="1109012"/>
            <a:ext cx="9010957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1. AI舌象智能分析 — 拍照上传，AI自动识别舌质舌苔，基于中医理论给出调理建议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r>
              <a:rPr sz="1600">
                <a:latin typeface="微软雅黑"/>
              </a:rPr>
              <a:t>2. 结构化健康档案 — 10+种健康指标统一管理，自动评估正常/关注/紧急三级</a:t>
            </a:r>
          </a:p>
          <a:p>
            <a:r>
              <a:rPr sz="1600">
                <a:latin typeface="微软雅黑"/>
              </a:rPr>
              <a:t>3. 个性化养生建议 — RAG知识库+大模型，结合天气/季节/体质生成每日方案</a:t>
            </a:r>
          </a:p>
          <a:p>
            <a:r>
              <a:rPr sz="1600">
                <a:latin typeface="微软雅黑"/>
              </a:rPr>
              <a:t>4. 亲人关怀守护 — 邀请家人共享健康数据，子女远程关注父母健康状况</a:t>
            </a:r>
          </a:p>
          <a:p>
            <a:r>
              <a:rPr sz="1600">
                <a:latin typeface="微软雅黑"/>
              </a:rPr>
              <a:t>5. 在线问诊服务 — 图文问诊，健康快照一键发送，医生评价体系保障质量</a:t>
            </a:r>
          </a:p>
          <a:p>
            <a:r>
              <a:rPr sz="1600">
                <a:latin typeface="微软雅黑"/>
              </a:rPr>
              <a:t>6. 三端协同架构 — 用户端/医生端/管理端一体化，打造完整健康服务生态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5</a:t>
            </a:fld>
            <a:endParaRPr lang="zh-CN" altLang="en-US"/>
          </a:p>
        </p:txBody>
      </p:sp>
      <p:sp>
        <p:nvSpPr>
          <p:cNvPr id="27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创新性</a:t>
            </a:r>
            <a:endParaRPr/>
          </a:p>
        </p:txBody>
      </p:sp>
      <p:sp>
        <p:nvSpPr>
          <p:cNvPr id="28" name="文本框 3"/>
          <p:cNvSpPr txBox="true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1. 测评养医护闭环 — 从测量、评估、养生、问诊到亲人守护，一站式健康管理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r>
              <a:rPr sz="1600">
                <a:latin typeface="微软雅黑"/>
              </a:rPr>
              <a:t>2. 中医AI融合 — 舌诊、体质辨识等中医特色与AI结合，传统智慧现代化</a:t>
            </a:r>
          </a:p>
          <a:p>
            <a:r>
              <a:rPr sz="1600">
                <a:latin typeface="微软雅黑"/>
              </a:rPr>
              <a:t>3. 家庭化设计 — 不是孤立的个人工具，而是全家人的健康守护平台</a:t>
            </a:r>
          </a:p>
          <a:p>
            <a:r>
              <a:rPr sz="1600">
                <a:latin typeface="微软雅黑"/>
              </a:rPr>
              <a:t>4. 积分激励体系 — 健康打卡+积分奖励，提升用户粘性与持续使用意愿</a:t>
            </a:r>
          </a:p>
        </p:txBody>
      </p:sp>
      <p:sp>
        <p:nvSpPr>
          <p:cNvPr id="29" name="文本框 4"/>
          <p:cNvSpPr txBox="true"/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1. ArkTS/ArkUI原生开发 — 流畅体验，充分发挥鸿蒙系统性能优势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r>
              <a:rPr sz="1600">
                <a:latin typeface="微软雅黑"/>
              </a:rPr>
              <a:t>2. 分布式能力 — 支持多设备协同，健康数据跨设备流转</a:t>
            </a:r>
          </a:p>
          <a:p>
            <a:r>
              <a:rPr sz="1600">
                <a:latin typeface="微软雅黑"/>
              </a:rPr>
              <a:t>3. 原子化服务 — 健康卡片、AI助手可直达服务，无需安装完整App</a:t>
            </a:r>
          </a:p>
          <a:p>
            <a:r>
              <a:rPr sz="1600">
                <a:latin typeface="微软雅黑"/>
              </a:rPr>
              <a:t>4. 统一设计规范 — 遵循鸿蒙设计语言，界面简洁优雅，操作直觉流畅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6</a:t>
            </a:fld>
            <a:endParaRPr lang="zh-CN" altLang="en-US"/>
          </a:p>
        </p:txBody>
      </p:sp>
      <p:sp>
        <p:nvSpPr>
          <p:cNvPr id="32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商业价值</a:t>
            </a:r>
            <a:endParaRPr/>
          </a:p>
        </p:txBody>
      </p:sp>
      <p:sp>
        <p:nvSpPr>
          <p:cNvPr id="33" name="文本框 3"/>
          <p:cNvSpPr txBox="true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【用户范围】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r>
              <a:rPr sz="1600">
                <a:latin typeface="微软雅黑"/>
              </a:rPr>
              <a:t>面向全年龄段，核心用户为中老年人群、职场青年、慢病人群和中医爱好者，</a:t>
            </a:r>
          </a:p>
          <a:p>
            <a:r>
              <a:rPr sz="1600">
                <a:latin typeface="微软雅黑"/>
              </a:rPr>
              <a:t>目标市场规模达数亿人。</a:t>
            </a:r>
          </a:p>
          <a:p/>
          <a:p>
            <a:r>
              <a:rPr sz="1600">
                <a:latin typeface="微软雅黑"/>
              </a:rPr>
              <a:t>【商业模式】</a:t>
            </a:r>
          </a:p>
          <a:p>
            <a:r>
              <a:rPr sz="1600">
                <a:latin typeface="微软雅黑"/>
              </a:rPr>
              <a:t>• 基础功能免费 + 会员增值服务（高级AI分析、无限舌诊、专属方案）</a:t>
            </a:r>
          </a:p>
          <a:p>
            <a:r>
              <a:rPr sz="1600">
                <a:latin typeface="微软雅黑"/>
              </a:rPr>
              <a:t>• 在线问诊服务费抽成</a:t>
            </a:r>
          </a:p>
          <a:p>
            <a:r>
              <a:rPr sz="1600">
                <a:latin typeface="微软雅黑"/>
              </a:rPr>
              <a:t>• 健康商城（养生产品、中医器械）</a:t>
            </a:r>
          </a:p>
          <a:p>
            <a:r>
              <a:rPr sz="1600">
                <a:latin typeface="微软雅黑"/>
              </a:rPr>
              <a:t>• B端合作（保险公司、体检中心、中医院）</a:t>
            </a:r>
          </a:p>
          <a:p/>
          <a:p>
            <a:r>
              <a:rPr sz="1600">
                <a:latin typeface="微软雅黑"/>
              </a:rPr>
              <a:t>【商业潜力】</a:t>
            </a:r>
          </a:p>
          <a:p>
            <a:r>
              <a:rPr sz="1600">
                <a:latin typeface="微软雅黑"/>
              </a:rPr>
              <a:t>健康中国战略加持，中医养生市场持续增长，鸿蒙生态先发优势明显。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7</a:t>
            </a:fld>
            <a:endParaRPr lang="zh-CN" altLang="en-US"/>
          </a:p>
        </p:txBody>
      </p:sp>
      <p:sp>
        <p:nvSpPr>
          <p:cNvPr id="36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altLang="zh-CN" dirty="false"/>
              <a:t>Demo</a:t>
            </a:r>
            <a:endParaRPr lang="zh-CN" altLang="en-US" dirty="false"/>
          </a:p>
        </p:txBody>
      </p:sp>
      <p:sp>
        <p:nvSpPr>
          <p:cNvPr id="37" name="文本框 3"/>
          <p:cNvSpPr txBox="true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sz="1600">
                <a:latin typeface="微软雅黑"/>
              </a:rPr>
              <a:t>演示视频包含以下核心功能展示：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/>
          <a:p>
            <a:r>
              <a:rPr sz="1600">
                <a:latin typeface="微软雅黑"/>
              </a:rPr>
              <a:t>1. 登录注册 &amp; 首页概览</a:t>
            </a:r>
          </a:p>
          <a:p>
            <a:r>
              <a:rPr sz="1600">
                <a:latin typeface="微软雅黑"/>
              </a:rPr>
              <a:t>2. 健康档案 — 血压/血糖等指标记录与健康卡</a:t>
            </a:r>
          </a:p>
          <a:p>
            <a:r>
              <a:rPr sz="1600">
                <a:latin typeface="微软雅黑"/>
              </a:rPr>
              <a:t>3. AI舌象分析 — 拍照上传与智能分析</a:t>
            </a:r>
          </a:p>
          <a:p>
            <a:r>
              <a:rPr sz="1600">
                <a:latin typeface="微软雅黑"/>
              </a:rPr>
              <a:t>4. AI养生助手 — 对话问答与场景化建议</a:t>
            </a:r>
          </a:p>
          <a:p>
            <a:r>
              <a:rPr sz="1600">
                <a:latin typeface="微软雅黑"/>
              </a:rPr>
              <a:t>5. 亲人关怀 — 邀请家人与健康共享</a:t>
            </a:r>
          </a:p>
          <a:p>
            <a:r>
              <a:rPr sz="1600">
                <a:latin typeface="微软雅黑"/>
              </a:rPr>
              <a:t>6. 在线问诊 — 图文问诊与健康快照</a:t>
            </a:r>
          </a:p>
          <a:p/>
          <a:p>
            <a:r>
              <a:rPr sz="1600">
                <a:latin typeface="微软雅黑"/>
              </a:rPr>
              <a:t>（视频文件请随仓库一同提交，或在README中提供视频链接）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true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0" marR="0" lvl="0" indent="0" algn="ctr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66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false" lang="en-US" altLang="zh-CN" sz="6600" b="true" i="false" u="none" strike="noStrike" kern="1200" cap="none" spc="0" normalizeH="false" baseline="0" noProof="false" dirty="false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2026-10-13T09:01:21Z</dcterms:created>
  <dcterms:modified xsi:type="dcterms:W3CDTF">2026-10-13T09:01:21Z</dcterms:modified>
</cp:coreProperties>
</file>